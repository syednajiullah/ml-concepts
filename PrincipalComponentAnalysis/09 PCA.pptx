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  <p:sldMasterId id="2147483852" r:id="rId2"/>
  </p:sldMasterIdLst>
  <p:notesMasterIdLst>
    <p:notesMasterId r:id="rId25"/>
  </p:notesMasterIdLst>
  <p:sldIdLst>
    <p:sldId id="257" r:id="rId3"/>
    <p:sldId id="301" r:id="rId4"/>
    <p:sldId id="302" r:id="rId5"/>
    <p:sldId id="304" r:id="rId6"/>
    <p:sldId id="305" r:id="rId7"/>
    <p:sldId id="306" r:id="rId8"/>
    <p:sldId id="307" r:id="rId9"/>
    <p:sldId id="303" r:id="rId10"/>
    <p:sldId id="308" r:id="rId11"/>
    <p:sldId id="309" r:id="rId12"/>
    <p:sldId id="310" r:id="rId13"/>
    <p:sldId id="311" r:id="rId14"/>
    <p:sldId id="312" r:id="rId15"/>
    <p:sldId id="313" r:id="rId16"/>
    <p:sldId id="315" r:id="rId17"/>
    <p:sldId id="314" r:id="rId18"/>
    <p:sldId id="316" r:id="rId19"/>
    <p:sldId id="317" r:id="rId20"/>
    <p:sldId id="319" r:id="rId21"/>
    <p:sldId id="318" r:id="rId22"/>
    <p:sldId id="320" r:id="rId23"/>
    <p:sldId id="29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256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8635B-33C3-4690-BA16-E38A693CBE80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F44AE-985B-4C6A-AA83-B2B398EA04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86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174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90E0C-57D2-7F7A-CB1A-17D2CDFC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7B685-1B4B-AD05-0DDF-8D9A0B269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85C03-6C63-5CD9-2572-65FCC3967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20E91-077E-CB2E-A23A-9D5F837EA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977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5447-8454-629B-CE3D-4B01FD14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1586A-DE0F-8BA9-A08F-6662322B0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BD6CC-7C68-9766-698E-E71CAF4D5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4489E-1BD0-C4E1-2851-3A371CB8F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74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8059-9BBC-7201-ADAE-5ADEFB8B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8DA22-B70F-BFC7-505D-59E667EDE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FDC43-C1E9-3690-897A-AB7D22126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75DF5-F2D1-1A91-4358-529BBF9AA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060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C63E-9CAF-B251-D700-44BA1A8F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C64F0-1912-B387-5E66-D68CE4DEB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A1A98-2853-2A0E-256E-1507E9614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59673-E401-7CF2-6F52-826E47F37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442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7EC1-D091-DF4D-2E2E-14ACA3ED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63E88-4518-784A-ACBE-51A01AB84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E232B-5F97-53EC-2CAA-5D6D39413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F4CC8-419E-662D-57C6-8CA84D07E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025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7CB1-26F8-7526-06ED-0E40235A6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E1078-14D4-7D17-D77D-C156710F1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6E187-E139-D26B-70F5-052056A76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52F9-A568-144F-902B-7A51193D9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04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9CA5-AFD7-8695-9ECD-81E9A875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4F878-A92C-77E8-6E5B-F04ED316A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C913B-E126-E8D4-5122-1FB8EAE87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850A-17A8-5507-1445-DD4765400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548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63C3-5CF0-4884-187C-3FE50EF4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8B29B-56F8-9563-3FFC-181FECD10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9CEB1-0A7E-18E3-55DE-B51C4C69E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9E80E-4802-DF36-6BCA-02C98C408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264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BBC5-FCFC-C4DA-03DE-456F9287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C4CA3-614E-12D8-521A-F8BCEE1E7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E33ED-8B36-AD01-5BC4-5F035B42A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680DA-3156-4DB6-06A0-073A82BE7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06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9428-17FA-B906-5DFD-1B2A4A64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844A6-3FEC-C267-4466-F186EECC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F71CD-3EAC-B62C-31B1-24B7220D3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22D7E-F929-5C24-3F1E-E3EF34D88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073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ED9C-F135-97F3-A6DE-88648AFC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B92C3-AF4B-FFCE-3C86-D933E48A8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3F941-682F-8762-A9E7-3B1EA3835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43819-2F01-C295-3702-B171B820D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165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999C-ABB8-DDE9-D458-1B696569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88A1F-7BCA-2F58-4E5C-71E94234A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667D6-F8D2-CD1D-620A-6EB2F2A2A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3652F-CBD1-8C0B-6918-9A99DEE12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418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E58F-166D-E60C-399A-8A38FA20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DC0A6-09D8-12DD-6412-9913A908D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2158F-8ADF-2722-25FD-D34DF88F7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5EADE-912C-A443-367D-1FEF2C480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825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B78A-6D28-3C9B-B2A9-E8C1DCB2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A4747-6F90-1F27-4ED1-8107CE75F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61F8F-E468-1779-892B-D31E92E45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D274C-3DAF-6E19-513F-9C737525D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20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608B-1672-AEDE-93EF-5B17F021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45C21-03E0-54DA-B49F-DD22E2346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B4110-AF72-37D9-8C11-01BFD9B11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C1C21-26E7-45BE-4558-FAB594455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3305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03AE0-4793-210B-5119-3F179129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4D745-A7DA-D5AF-6A9E-08E98E70E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C7F3E-F1F5-9E52-DBF1-B64E5B79F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74B7E-0DE4-7BF5-EB27-04869081E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923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03205-08C3-391D-CD90-5C8C6A4E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9274B-901B-4442-F2E6-C6B62D82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D4446-9663-3412-8030-92BC6DE90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7C82F-0540-BAA9-43F0-3AAD4EABA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585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4A59-34DE-2501-E4CD-DE5AAE6E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01476-DF49-2BE0-D174-CCFCD4ED7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853D-7C4A-64D2-4027-155776E1E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17D4F-9063-4032-7D1F-344B89EA1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739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35C41-2DF3-7713-6818-31A99C89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A8716-ABE5-C697-2C5F-9D5C5332A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522B2-FB67-DDDE-6FD8-7EC7EB57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A0013-07A3-2860-4C4E-EF1056D28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F44AE-985B-4C6A-AA83-B2B398EA043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83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11/5/2025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85B1-CEBC-73B4-9F13-C5526D013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7F121-2135-39C8-5404-1D2E495CE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62216-8F86-92FF-8E07-B0B398540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3CFE6-11A6-CF9C-7072-1BE078A4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5888C-0F07-262C-B7E2-62627141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94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8ECA-2F21-C8D7-1236-39C78092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C87B-A1DF-5615-FA68-C2DB2A704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A877A-B16F-F054-AF58-6865725B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3A904-5EA1-19D3-56DC-BE5B8C6B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40E65-E9A9-8643-3DDC-AD0AFEE2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74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8A65-29F9-7172-F103-0BA9D980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43B4F-9B36-671E-AF45-7750EC390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716CF-E064-A392-D122-9E53D109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5119E-F498-664D-B015-A67EA854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1D74-515A-6311-0985-E772ABE7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8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BD23-B0F4-7CC7-9E2B-B913FE0D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38BB6-0F68-645B-1A75-E1E35FAF5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36AD7-66DB-8A68-87F8-9D6C76BA8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E927C-71EE-9DDD-AEA1-8EAC94CF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F4D19-B520-F657-FE3C-F0D9B233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3199B-1781-4DC9-8329-67379B35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86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4518-A253-1F7B-2E04-4856AE51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68D40-D2D8-3F31-1E4A-08D1AE016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A53CD-C88A-366C-D543-4869D7C83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806B3-362A-3842-5D91-DF445CA10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567E4-53DF-3A21-D687-C2D7EC96A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A58E8-DBD5-0B68-AFFB-92933858B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005C9-2C8F-B156-A07F-AA651E1C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9FB70-B9E6-2967-0ABE-F026D242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7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600B-87CD-DB7B-4876-2B3411FB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3FFC6-0695-042C-35E9-E3EFAC0E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72052-ECE1-4258-2C60-740CE052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E2B97-4F3D-E751-F142-49F9DB7C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91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2D0F59-9163-F9F8-4CFE-4B3FB27D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58375-AD0C-2F27-4231-625DECBF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FEAED-BE86-D2A2-457D-4D823BC8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2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23F5-4A2F-6151-D81C-21F89CFA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5B262-E8FF-71EE-2C7A-9E9A4B4A7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FD8B1-3B5A-79DA-9111-BAA23633F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1CE6D-EDFB-5177-A8A4-FA2C7F11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371DD-A951-C4A2-9063-FE3BA42D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8620C-F80F-ECFA-BB9F-3CDC4704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9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D3A8-14A5-A61F-52C2-6274DB92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8D129-5F87-9256-6C1B-F01418609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9A6A3-DFBA-23AC-F6C2-486B55CDD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39EE0-F3B5-4179-8907-5898BD12D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CD6DE-A3C2-3402-73DF-C20FA336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3446F-E60B-6573-43E9-17BEDEA1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8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DDFB-9BA2-95D8-8C55-3D509A77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46C3B-0482-CCA7-A43F-75039B08B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92187-7683-D7F0-7EF2-5C156396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02EE-4282-A989-0D0A-936A02F4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8A88F-A011-25FE-55AC-7DA1012E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21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B8924-1A07-431E-4599-62CE809E2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FE61E-E339-7B85-B6A9-63552E02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0B89-A064-A2DD-0267-500F19B2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58C2-1F2B-F30C-F49B-5265710D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EE370-8642-938B-723A-5431EF06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6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728D9-BCBD-ABDA-F9B7-84A4A7C4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9705-DF79-92B6-387E-2ACC7465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C1C2D-182E-4F4C-A74C-E875A5699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B512B-7476-443B-B037-24F0D861653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03109-ADA6-C727-56BD-59B6956EE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6042-E6DF-1932-8EF5-A39669AD6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AD53F-99CD-40D7-9ABA-214F761CB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4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4626" y="1585872"/>
            <a:ext cx="8825658" cy="26776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Principal Component Analysis(PCA)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5455" y="4742839"/>
            <a:ext cx="9144000" cy="1619326"/>
          </a:xfrm>
        </p:spPr>
        <p:txBody>
          <a:bodyPr>
            <a:noAutofit/>
          </a:bodyPr>
          <a:lstStyle/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8712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588B-DF32-4025-9668-E095F25D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E0AA9-373E-42E4-CB82-CE5074A9A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Principal component analysis (PCA) is a statistical procedure that uses an orthogonal transformation to convert a set of observations of possibly correlated variables into a set of values of linearly uncorrelated variables called principal components.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 fontAlgn="base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PCA also called Principal component analysis is used for reducing the dimension of the dataset to a lower dimension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it can be analyzed more easily 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also keep all the relevant information of the dataset without any loss. 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CAF83E6-CB75-94A5-649C-16D4DC744F4D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79212-97EE-8257-4F56-6405765AB9D5}"/>
              </a:ext>
            </a:extLst>
          </p:cNvPr>
          <p:cNvSpPr txBox="1"/>
          <p:nvPr/>
        </p:nvSpPr>
        <p:spPr>
          <a:xfrm>
            <a:off x="3868049" y="5262664"/>
            <a:ext cx="441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Dimension Data </a:t>
            </a:r>
            <a:r>
              <a:rPr lang="en-US" dirty="0">
                <a:sym typeface="Wingdings" panose="05000000000000000000" pitchFamily="2" charset="2"/>
              </a:rPr>
              <a:t> Low Dimension Data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7376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6D129-BDCF-6EF2-8D94-B55FB911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13AE8-2D58-AF34-DFC8-78869F0FC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to use PCA?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reduce the number of dimensions in your factor analysis. 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categorize the dependent and independent variables in your data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eliminate the noise components in your dimension analysis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31D654-E471-464F-CE52-EBAAC63C9CFF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504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2F66-F79B-BA42-513F-E1EFDCE87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AD2E2-6537-DF49-125F-8F3EF58F3E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Quick review (Vector)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the context of linear algebra and matrices: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vector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list of numbers, 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arranged either in a row (referred to as a row vector) or 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column (known as a column vector)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order to multiply a matrix by a vector, the matrix must have as many columns as the vector has rows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might also find ourselves multiplying matrices by vectors when solving linear equations. 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Multiplying a vector by a matrix is much simpler than multiplying two different matrices.</a:t>
                </a:r>
              </a:p>
              <a:p>
                <a:pPr lvl="1"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we multiply a vectors by matrix, the vector might rotate, stretch, shrink or change direction.</a:t>
                </a:r>
              </a:p>
              <a:p>
                <a:pPr algn="just" fontAlgn="base"/>
                <a:r>
                  <a:rPr lang="en-US" sz="2000" dirty="0">
                    <a:cs typeface="Arial" panose="020B0604020202020204" pitchFamily="34" charset="0"/>
                  </a:rPr>
                  <a:t>Example: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∗1+5∗2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∗1+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∗1+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7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AD2E2-6537-DF49-125F-8F3EF58F3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 r="-5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514156DB-4337-7BB4-F06E-BEB12A9C5304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138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1407-8823-2175-DBE7-1E34904C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1139-4D95-6571-82C1-FB3D76609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Quick review (Eigenvector and Eigenvalue)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eigenvector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non-zero vector that doesn't change direction when a linear transformation is applied to it ( when you multiply it by a matrix)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Eigenvectors are those vectors that are only stretched, with neither rotation nor trim, and keep pointing in the same direction. 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corresponding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eigenvalue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factor by which an eigenvector is stretched or compressed.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eigenvalue is negative, the eigenvector's direction is reversed.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an n × n matrix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a nonzero vector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length n. If multiplying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denoted by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simply scales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by a factor of </a:t>
            </a:r>
            <a:r>
              <a:rPr lang="el-G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l-G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a scalar, then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called an eigenvector of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l-G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the corresponding eigenvalue.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much eigen vector is stretched or compressed:</a:t>
            </a:r>
          </a:p>
          <a:p>
            <a:pPr lvl="1" algn="just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2     =&gt; eigenvector is twice as long</a:t>
            </a:r>
          </a:p>
          <a:p>
            <a:pPr lvl="1" algn="just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0.5  =&gt; eigenvector is half as long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DC30FD-F49D-6E9F-5AB0-5F51E0753C40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72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807F-4466-056E-1A94-046B1C7B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819C8-7692-20F1-9146-F8265451E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Quick review (Eigenvector and Eigenvalue)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will be using the formula: det(S-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 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)=0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determinent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(scalar valued function of the entries of a square matrix)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 or A: Matrix</a:t>
            </a:r>
          </a:p>
          <a:p>
            <a:pPr lvl="1" algn="just" fontAlgn="base"/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eigenvalue of S</a:t>
            </a:r>
          </a:p>
          <a:p>
            <a:pPr lvl="1"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N x N identity matrix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AB702A-5D8C-7E1A-7242-E492C1E3F20C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243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4398-D456-A4A3-5394-E03FE0F6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8BF77-08AA-1B3C-C0D5-C13876475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Quick review (Covariance Matrix)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Covariance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measure of joint variability of 2 random variables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shows the tendency in the linear relationship between the variables</a:t>
            </a: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covariance matrix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(also known as auto-covariance matrix, dispersion matrix, variance matrix, or variance–covariance matrix) </a:t>
            </a:r>
          </a:p>
          <a:p>
            <a:pPr lvl="1"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a square matrix giving the covariance between each pair of elements of a given random vector.</a:t>
            </a:r>
          </a:p>
          <a:p>
            <a:pPr lvl="1" algn="just"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4F5D27-D438-E46F-AA04-04E6C49F6C5B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8438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D23EA-0D60-0311-83C7-FC13EB9B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1824B-27A4-4D8C-5BF3-91160DF0D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us understand PCA by an example for conversion of date from 2D to 1D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Reduce the 2D data given below to 1D data: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Calculate Mean (One can also use Z-Normalization)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 fontAlgn="base"/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b="0" i="1" baseline="-5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4+8+13+7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8</a:t>
                </a:r>
              </a:p>
              <a:p>
                <a:pPr lvl="1" algn="just" fontAlgn="base"/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b="0" i="1" baseline="-5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11+4+5+14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8.5</a:t>
                </a:r>
              </a:p>
              <a:p>
                <a:pPr marL="0" indent="0" algn="just" fontAlgn="base"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1824B-27A4-4D8C-5BF3-91160DF0D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DB1CBCD-6CBF-08CC-F7AA-34CFB333E1A6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50216B-ECF3-7465-2122-8F2CC57CD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05912"/>
              </p:ext>
            </p:extLst>
          </p:nvPr>
        </p:nvGraphicFramePr>
        <p:xfrm>
          <a:off x="2572771" y="1997088"/>
          <a:ext cx="5937505" cy="1097280"/>
        </p:xfrm>
        <a:graphic>
          <a:graphicData uri="http://schemas.openxmlformats.org/drawingml/2006/table">
            <a:tbl>
              <a:tblPr/>
              <a:tblGrid>
                <a:gridCol w="1187501">
                  <a:extLst>
                    <a:ext uri="{9D8B030D-6E8A-4147-A177-3AD203B41FA5}">
                      <a16:colId xmlns:a16="http://schemas.microsoft.com/office/drawing/2014/main" val="3710929569"/>
                    </a:ext>
                  </a:extLst>
                </a:gridCol>
                <a:gridCol w="1187501">
                  <a:extLst>
                    <a:ext uri="{9D8B030D-6E8A-4147-A177-3AD203B41FA5}">
                      <a16:colId xmlns:a16="http://schemas.microsoft.com/office/drawing/2014/main" val="4226575375"/>
                    </a:ext>
                  </a:extLst>
                </a:gridCol>
                <a:gridCol w="1187501">
                  <a:extLst>
                    <a:ext uri="{9D8B030D-6E8A-4147-A177-3AD203B41FA5}">
                      <a16:colId xmlns:a16="http://schemas.microsoft.com/office/drawing/2014/main" val="2455322111"/>
                    </a:ext>
                  </a:extLst>
                </a:gridCol>
                <a:gridCol w="1187501">
                  <a:extLst>
                    <a:ext uri="{9D8B030D-6E8A-4147-A177-3AD203B41FA5}">
                      <a16:colId xmlns:a16="http://schemas.microsoft.com/office/drawing/2014/main" val="2362709987"/>
                    </a:ext>
                  </a:extLst>
                </a:gridCol>
                <a:gridCol w="1187501">
                  <a:extLst>
                    <a:ext uri="{9D8B030D-6E8A-4147-A177-3AD203B41FA5}">
                      <a16:colId xmlns:a16="http://schemas.microsoft.com/office/drawing/2014/main" val="3188993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>
                          <a:effectLst/>
                        </a:rPr>
                        <a:t>Feature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dirty="0">
                          <a:effectLst/>
                        </a:rPr>
                        <a:t>Example 1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 dirty="0">
                          <a:effectLst/>
                        </a:rPr>
                        <a:t>Example 2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>
                          <a:effectLst/>
                        </a:rPr>
                        <a:t>Example 3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>
                          <a:effectLst/>
                        </a:rPr>
                        <a:t>Example 4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492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>
                          <a:effectLst/>
                        </a:rPr>
                        <a:t>X</a:t>
                      </a:r>
                      <a:r>
                        <a:rPr lang="en-US" b="1" baseline="-25000">
                          <a:effectLst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b="1">
                          <a:effectLst/>
                        </a:rPr>
                        <a:t>X</a:t>
                      </a:r>
                      <a:r>
                        <a:rPr lang="en-US" b="1" baseline="-25000">
                          <a:effectLst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>
                          <a:effectLst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PK" dirty="0">
                          <a:effectLst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158830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EC41078F-75C8-4EBA-1099-EC87524CE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953" y="3297338"/>
            <a:ext cx="3453319" cy="334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31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68CB-CE78-1691-EDA8-6A905D18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B36DE4-82F9-30F8-E83B-575573748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Calculate Covariance Matrix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𝑜𝑣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𝑜𝑣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l-G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 baseline="-50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sz="2000" b="0" i="1" baseline="30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8−8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13−8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7−8</m:t>
                            </m:r>
                          </m:e>
                        </m:d>
                        <m:r>
                          <a:rPr lang="en-US" sz="2000" b="0" i="1" baseline="30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d>
                    <m:r>
                      <a:rPr lang="en-US" sz="2000" b="0" i="1" baseline="30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 	= 14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l-G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 baseline="-50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l-G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b="0" i="1" baseline="-5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</m:e>
                        </m:d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11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8−8</m:t>
                            </m:r>
                          </m:e>
                        </m:d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13−8</m:t>
                            </m:r>
                          </m:e>
                        </m:d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7−8</m:t>
                            </m:r>
                          </m:e>
                        </m:d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</m:e>
                    </m:d>
                    <m:r>
                      <a:rPr lang="en-US" sz="2000" b="0" i="1" baseline="30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 	= -11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𝑜𝑣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-11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𝑜𝑣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l-GR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b="0" i="1" baseline="-50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sz="2000" b="0" i="1" baseline="30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11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b="0" i="1" baseline="3000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5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4−8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.5</m:t>
                            </m:r>
                          </m:e>
                        </m:d>
                        <m:r>
                          <a:rPr lang="en-US" sz="2000" i="1" baseline="30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</m:d>
                    <m:r>
                      <a:rPr lang="en-US" sz="2000" b="0" i="1" baseline="30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 	= 23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B36DE4-82F9-30F8-E83B-575573748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 b="-429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E9F5C0C1-D208-518F-EB88-C42E55213D8E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A0C79AA-073A-03A6-D98E-87D9560C92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7981994"/>
                  </p:ext>
                </p:extLst>
              </p:nvPr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A0C79AA-073A-03A6-D98E-87D9560C92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7981994"/>
                  </p:ext>
                </p:extLst>
              </p:nvPr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FA87A8-795F-C3F7-A411-C91E4C9A7AD4}"/>
                  </a:ext>
                </a:extLst>
              </p:cNvPr>
              <p:cNvSpPr txBox="1"/>
              <p:nvPr/>
            </p:nvSpPr>
            <p:spPr>
              <a:xfrm>
                <a:off x="8803494" y="5094528"/>
                <a:ext cx="3299301" cy="1549463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So, Covariance Matrix: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FA87A8-795F-C3F7-A411-C91E4C9A7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3494" y="5094528"/>
                <a:ext cx="3299301" cy="1549463"/>
              </a:xfrm>
              <a:prstGeom prst="rect">
                <a:avLst/>
              </a:prstGeom>
              <a:blipFill>
                <a:blip r:embed="rId6"/>
                <a:stretch>
                  <a:fillRect l="-3499" t="-2344" r="-16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55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06851-EC21-E7FE-0C1F-2F367D46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CA3A0-34CB-2A85-030C-D0F8332FC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3: Eigenvalues of Covariance Matrix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characteristic equation of the covariance matrix is,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0 = det(S-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λ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 fontAlgn="base"/>
                <a:endParaRPr lang="en-US" sz="20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23−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– (-11) (-11) 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- 37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+ 201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4CA3A0-34CB-2A85-030C-D0F8332FC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19096C28-1B61-9A39-D609-A92021EF0AF8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5CB2DC-9663-7E41-F145-1A12E1DAC8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5CB2DC-9663-7E41-F145-1A12E1DAC8B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65763-3049-CE85-55FF-9C5142874F6F}"/>
                  </a:ext>
                </a:extLst>
              </p:cNvPr>
              <p:cNvSpPr txBox="1"/>
              <p:nvPr/>
            </p:nvSpPr>
            <p:spPr>
              <a:xfrm>
                <a:off x="9517472" y="2480553"/>
                <a:ext cx="2585323" cy="3157916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l-GR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λ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l-GR" sz="28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l-GR" sz="28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65763-3049-CE85-55FF-9C5142874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7472" y="2480553"/>
                <a:ext cx="2585323" cy="3157916"/>
              </a:xfrm>
              <a:prstGeom prst="rect">
                <a:avLst/>
              </a:prstGeom>
              <a:blipFill>
                <a:blip r:embed="rId6"/>
                <a:stretch>
                  <a:fillRect l="-44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10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D35BA-9002-27DB-99B1-A85BBA8F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B2C06-78FE-04A9-A016-19A659E5D1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3: Eigenvalues of Covariance Matrix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- 37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+ 201</a:t>
                </a: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Finding the roots of the quadratic equation: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−4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(−37)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(−37)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−4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(1)(201)</m:t>
                            </m:r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(1)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37±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567</m:t>
                            </m:r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37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+ 23.78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30.39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1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37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− 23.78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6.61</a:t>
                </a:r>
                <a:endParaRPr lang="en-US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B2C06-78FE-04A9-A016-19A659E5D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CF26C3F3-EB93-837D-34C0-CC62079AD394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B6ED32B-D5C0-C613-FB46-E09AEDA4E1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B6ED32B-D5C0-C613-FB46-E09AEDA4E1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2384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08F7-67DC-FA08-F65C-1761737D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62BE2-03A6-FA84-4CD2-B8BEE9F9A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4: Computation of Eigenvectors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Eigenvector =&gt;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(S-</a:t>
                </a:r>
                <a:r>
                  <a:rPr lang="el-G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λ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	=&gt; 	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23−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	=&gt; 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14−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−11</m:t>
                              </m:r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(23−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Now: </a:t>
                </a:r>
              </a:p>
              <a:p>
                <a:pPr lvl="1"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14−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−11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	-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①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 fontAlgn="base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−11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(23−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	-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②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need to find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the value of Eigenvectors. 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choose any 1 of the above equations</a:t>
                </a:r>
              </a:p>
              <a:p>
                <a:pPr lvl="1"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us consider eq </a:t>
                </a:r>
                <a:r>
                  <a:rPr lang="en-US" sz="2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①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62BE2-03A6-FA84-4CD2-B8BEE9F9A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5D72780-F052-92F2-3BAC-8DD09C5DC7D5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E8DAD4-CA6A-A12A-CD52-764753EC1C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1E8DAD4-CA6A-A12A-CD52-764753EC1C0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87694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0824A-0F84-4C40-178F-DB00E054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6DB0C-6705-D633-2308-DEF115A163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14−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−11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14−</m:t>
                    </m:r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11</m:t>
                    </m:r>
                    <m:r>
                      <m:rPr>
                        <m:brk m:alnAt="7"/>
                      </m:rP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2400" i="1" baseline="-25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num>
                      <m:den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14−</m:t>
                        </m:r>
                        <m:r>
                          <m:rPr>
                            <m:nor/>
                          </m:rPr>
                          <a:rPr lang="el-GR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t	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	where t is any real number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So</a:t>
                </a:r>
              </a:p>
              <a:p>
                <a:pPr lvl="1"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11t</a:t>
                </a:r>
              </a:p>
              <a:p>
                <a:pPr lvl="1" algn="just" fontAlgn="base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0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(14-</a:t>
                </a:r>
                <a:r>
                  <a:rPr lang="el-GR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)t</a:t>
                </a:r>
              </a:p>
              <a:p>
                <a:pPr lvl="1" algn="just" fontAlgn="base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6DB0C-6705-D633-2308-DEF115A163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6E976B8A-7F87-AE26-F835-D6EB64EE0953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9B2B45E-C21B-5630-D66E-0D3F0BA6A6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9B2B45E-C21B-5630-D66E-0D3F0BA6A6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ight Brace 8">
            <a:extLst>
              <a:ext uri="{FF2B5EF4-FFF2-40B4-BE49-F238E27FC236}">
                <a16:creationId xmlns:a16="http://schemas.microsoft.com/office/drawing/2014/main" id="{10E625A1-D0F0-EC8F-330A-D145EB9D06F6}"/>
              </a:ext>
            </a:extLst>
          </p:cNvPr>
          <p:cNvSpPr/>
          <p:nvPr/>
        </p:nvSpPr>
        <p:spPr>
          <a:xfrm>
            <a:off x="2996119" y="4114800"/>
            <a:ext cx="311285" cy="58366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2CAB2-D721-6617-A924-F1EFFD710C2A}"/>
              </a:ext>
            </a:extLst>
          </p:cNvPr>
          <p:cNvSpPr txBox="1"/>
          <p:nvPr/>
        </p:nvSpPr>
        <p:spPr>
          <a:xfrm>
            <a:off x="3608961" y="4221964"/>
            <a:ext cx="738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Taking t=1, we get eigenvector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corresponding to Covariance Matrix as: 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558FC0-3424-A5AD-4267-CA264CE1A162}"/>
                  </a:ext>
                </a:extLst>
              </p:cNvPr>
              <p:cNvSpPr txBox="1"/>
              <p:nvPr/>
            </p:nvSpPr>
            <p:spPr>
              <a:xfrm>
                <a:off x="5118168" y="5213654"/>
                <a:ext cx="1955664" cy="80797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8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14−</m:t>
                              </m:r>
                              <m:r>
                                <m:rPr>
                                  <m:nor/>
                                </m:rPr>
                                <a:rPr lang="el-GR" sz="28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PK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558FC0-3424-A5AD-4267-CA264CE1A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168" y="5213654"/>
                <a:ext cx="1955664" cy="807978"/>
              </a:xfrm>
              <a:prstGeom prst="rect">
                <a:avLst/>
              </a:prstGeom>
              <a:blipFill>
                <a:blip r:embed="rId6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814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5B73-4D31-990A-BE20-D954BEA7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AF4A5-2E08-CCD4-1C88-3C7287ECCC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Next we calculate PCA, for that we consider</a:t>
                </a: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largest Eigenvalue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>
                        <a:highlight>
                          <a:srgbClr val="FFFF00"/>
                        </a:highlight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baseline="-25000" dirty="0">
                    <a:highlight>
                      <a:srgbClr val="FFFF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highlight>
                      <a:srgbClr val="FFFF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 = 30.39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6.61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we need another PCA, we can choose the next value.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Next, to find a unit eigenvector, we compute the length of X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which is given by:</a:t>
                </a:r>
              </a:p>
              <a:p>
                <a:pPr algn="just" fontAlgn="base"/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11</m:t>
                            </m:r>
                          </m:e>
                        </m:d>
                        <m:r>
                          <a:rPr lang="en-US" sz="2000" b="0" i="1" baseline="30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+(14−</m:t>
                        </m:r>
                        <m:r>
                          <m:rPr>
                            <m:nor/>
                          </m:rPr>
                          <a:rPr lang="el-GR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λ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rad>
                    <m:r>
                      <a:rPr lang="en-US" sz="2000" b="0" i="1" baseline="3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=&gt;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11</m:t>
                            </m:r>
                          </m:e>
                        </m:d>
                        <m:r>
                          <a:rPr lang="en-US" sz="2000" i="1" baseline="30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+(14−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30.39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rad>
                    <m:r>
                      <a:rPr lang="en-US" sz="2000" i="1" baseline="30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   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=&gt;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389.6321</m:t>
                        </m:r>
                      </m:e>
                    </m:rad>
                  </m:oMath>
                </a14:m>
                <a:endParaRPr lang="en-US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2000" b="0" i="1" baseline="-25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19.7348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5AF4A5-2E08-CCD4-1C88-3C7287ECCC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595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249DDD3-3FC8-D36F-4185-5C5196B25ED5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68F6B8F-8CA1-ED68-320A-021AB48932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68F6B8F-8CA1-ED68-320A-021AB48932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948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3324-E92C-A4D9-7A0E-55ED675A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52C12A-B9B5-CF15-B47F-D57839F32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Finally, a unit eigenvector corresponding</a:t>
                </a:r>
              </a:p>
              <a:p>
                <a:pPr marL="0" indent="0" algn="just" fontAlgn="base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 λ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: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r>
                                    <a:rPr lang="en-US" sz="2000" i="1" baseline="-250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14−</m:t>
                              </m:r>
                              <m:r>
                                <m:rPr>
                                  <m:nor/>
                                </m:rPr>
                                <a:rPr lang="el-GR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λ</m:t>
                              </m:r>
                              <m:r>
                                <a:rPr lang="en-US" sz="2000" i="1" baseline="-25000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r>
                                    <a:rPr lang="en-US" sz="2000" i="1" baseline="-250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=&gt;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1/19.7348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14−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30.39)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/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19.7348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.5574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−0.8303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kumimoji="0" lang="en-US" altLang="en-PK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Arial" panose="020B0604020202020204" pitchFamily="34" charset="0"/>
                  <a:ea typeface="-apple-system"/>
                </a:endParaRPr>
              </a:p>
              <a:p>
                <a:pPr algn="just" fontAlgn="base"/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By carrying out similar computations</a:t>
                </a:r>
                <a:r>
                  <a:rPr kumimoji="0" lang="en-US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 (if required)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, </a:t>
                </a:r>
                <a:endParaRPr kumimoji="0" lang="en-US" altLang="en-PK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Arial" panose="020B0604020202020204" pitchFamily="34" charset="0"/>
                  <a:ea typeface="-apple-system"/>
                </a:endParaRPr>
              </a:p>
              <a:p>
                <a:pPr lvl="1" algn="just" fontAlgn="base"/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the unit eigenvector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ea typeface="-apple-system"/>
                  </a:rPr>
                  <a:t> 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corresponding to the eigenvalue λ= λ</a:t>
                </a:r>
                <a:r>
                  <a:rPr kumimoji="0" lang="en-PK" altLang="en-PK" sz="2000" b="0" i="0" u="none" strike="noStrike" cap="none" normalizeH="0" baseline="-3000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2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 can b</a:t>
                </a:r>
                <a:r>
                  <a:rPr kumimoji="0" lang="en-US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e calculated as: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.8308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0.5574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52C12A-B9B5-CF15-B47F-D57839F32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595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A3F5A12-AFEF-1499-9FE1-A0AEC7C60A46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E61EB70-AFC8-7CCB-C992-68218EFB3B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E61EB70-AFC8-7CCB-C992-68218EFB3B1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F561A6-2274-8177-AAAA-A87879D77A62}"/>
                  </a:ext>
                </a:extLst>
              </p:cNvPr>
              <p:cNvSpPr txBox="1"/>
              <p:nvPr/>
            </p:nvSpPr>
            <p:spPr>
              <a:xfrm>
                <a:off x="10383586" y="2480553"/>
                <a:ext cx="1743298" cy="92333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1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30.39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1800" b="0" i="1" baseline="-25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19.7348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F561A6-2274-8177-AAAA-A87879D77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586" y="2480553"/>
                <a:ext cx="1743298" cy="923330"/>
              </a:xfrm>
              <a:prstGeom prst="rect">
                <a:avLst/>
              </a:prstGeom>
              <a:blipFill>
                <a:blip r:embed="rId6"/>
                <a:stretch>
                  <a:fillRect t="-3974" r="-2797" b="-993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37416-7218-AC31-E48B-A7FA48FE698D}"/>
                  </a:ext>
                </a:extLst>
              </p:cNvPr>
              <p:cNvSpPr txBox="1"/>
              <p:nvPr/>
            </p:nvSpPr>
            <p:spPr>
              <a:xfrm>
                <a:off x="10383587" y="5029998"/>
                <a:ext cx="1743298" cy="92333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180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en-US" sz="1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6.61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sz="1800" b="0" i="1" baseline="-2500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= ??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B37416-7218-AC31-E48B-A7FA48FE6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587" y="5029998"/>
                <a:ext cx="1743298" cy="923330"/>
              </a:xfrm>
              <a:prstGeom prst="rect">
                <a:avLst/>
              </a:prstGeom>
              <a:blipFill>
                <a:blip r:embed="rId7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487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E5B8-8B6B-F5EC-4D8E-F67FE480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1F7B-D392-1833-B5AD-AAFD9DE29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5: Compute first principal components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	</a:t>
                </a:r>
                <a:r>
                  <a:rPr lang="en-US" sz="24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4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the kth sample in the above Table (dataset). 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first principal component of this example is given by: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=&gt;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.5574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−0.8303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 baseline="-50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 baseline="-50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(0.5574)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lang="el-G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 baseline="-50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+ (-0.8303)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lang="el-GR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 baseline="-50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1F7B-D392-1833-B5AD-AAFD9DE29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B063ABAC-B10B-2B57-9DC0-C7D8524EE6DA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CBBBDAF-8BC0-965B-471D-664D489A18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CBBBDAF-8BC0-965B-471D-664D489A18A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14534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00EB-9585-B6FE-30A2-4B18ECD9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52BA5-EF35-780A-D76B-FA0C5E6DC7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First Principal Component for Example1: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.5574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−0.8303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 baseline="-50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−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2000" i="1" baseline="-25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 baseline="-50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sz="20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= (0.5574)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+ (-0.8303)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11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8.5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   =&gt;    -4.30535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52BA5-EF35-780A-D76B-FA0C5E6DC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F68F1105-CC8D-7D79-1410-4050A0912BFD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4626F60-333A-5A80-22C7-27E30E1A1B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4626F60-333A-5A80-22C7-27E30E1A1B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77997" y="975683"/>
              <a:ext cx="6324798" cy="1371600"/>
            </p:xfrm>
            <a:graphic>
              <a:graphicData uri="http://schemas.openxmlformats.org/drawingml/2006/table">
                <a:tbl>
                  <a:tblPr/>
                  <a:tblGrid>
                    <a:gridCol w="1054133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054133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1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180328" r="-115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X</a:t>
                          </a:r>
                          <a:r>
                            <a:rPr lang="en-US" b="1" baseline="-25000">
                              <a:effectLst/>
                            </a:rPr>
                            <a:t>2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56" t="-285000" r="-115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57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464C-748C-90BF-FBCE-62C3C680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96AFA-85CF-528B-94E1-82836E8D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D.I.Y. you may solve it for all examples :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8E9086-6597-8452-D638-B5DD19814ECF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B235833-AF7B-5EFE-103D-642D26217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2641620"/>
                  </p:ext>
                </p:extLst>
              </p:nvPr>
            </p:nvGraphicFramePr>
            <p:xfrm>
              <a:off x="1374309" y="1879579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B235833-AF7B-5EFE-103D-642D26217A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2641620"/>
                  </p:ext>
                </p:extLst>
              </p:nvPr>
            </p:nvGraphicFramePr>
            <p:xfrm>
              <a:off x="1374309" y="1879579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2411" t="-106557" r="-893" b="-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2411" t="-210000" r="-89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36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0913-5ED4-A47F-6AC9-EBDCAA68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A09E2-CDBD-B164-3B8D-8024051CCD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noFill/>
            </p:spPr>
            <p:txBody>
              <a:bodyPr>
                <a:noAutofit/>
              </a:bodyPr>
              <a:lstStyle/>
              <a:p>
                <a:pPr algn="just" fontAlgn="base"/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6: Geometrical meaning of first principal components</a:t>
                </a: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First, we shift the origin to the “</a:t>
                </a:r>
                <a:r>
                  <a:rPr kumimoji="0" lang="en-PK" altLang="en-PK" sz="2000" b="0" i="0" u="none" strike="noStrike" cap="none" normalizeH="0" baseline="0" dirty="0" err="1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center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”</a:t>
                </a:r>
                <a:r>
                  <a:rPr kumimoji="0" lang="en-US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 	=&gt;  </a:t>
                </a:r>
                <a:r>
                  <a:rPr kumimoji="0" lang="en-US" altLang="en-PK" sz="24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l-GR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b="0" i="1" baseline="-5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kumimoji="0" lang="en-US" altLang="en-PK" sz="24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,</a:t>
                </a:r>
                <a:r>
                  <a:rPr lang="el-GR" sz="24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sz="2400" i="1" baseline="-25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b="0" i="1" baseline="-5000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kumimoji="0" lang="en-US" altLang="en-PK" sz="24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)</a:t>
                </a:r>
                <a:endParaRPr kumimoji="0" lang="en-US" altLang="en-PK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Arial" panose="020B0604020202020204" pitchFamily="34" charset="0"/>
                  <a:ea typeface="-apple-system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PK" sz="2000" dirty="0">
                  <a:solidFill>
                    <a:srgbClr val="3A3A3A"/>
                  </a:solidFill>
                  <a:latin typeface="Arial" panose="020B0604020202020204" pitchFamily="34" charset="0"/>
                  <a:ea typeface="-apple-system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and then change the directions of coordinate axes</a:t>
                </a:r>
                <a:endParaRPr kumimoji="0" lang="en-US" altLang="en-PK" sz="2000" b="0" i="0" u="none" strike="noStrike" cap="none" normalizeH="0" baseline="0" dirty="0">
                  <a:ln>
                    <a:noFill/>
                  </a:ln>
                  <a:solidFill>
                    <a:srgbClr val="3A3A3A"/>
                  </a:solidFill>
                  <a:effectLst/>
                  <a:latin typeface="Arial" panose="020B0604020202020204" pitchFamily="34" charset="0"/>
                  <a:ea typeface="-apple-system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 to the directions of the eigenvectors e</a:t>
                </a:r>
                <a:r>
                  <a:rPr kumimoji="0" lang="en-PK" altLang="en-PK" sz="2000" b="0" i="0" u="none" strike="noStrike" cap="none" normalizeH="0" baseline="-3000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1</a:t>
                </a:r>
                <a:r>
                  <a:rPr kumimoji="0" lang="en-PK" altLang="en-PK" sz="2000" b="0" i="0" u="none" strike="noStrike" cap="none" normalizeH="0" baseline="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 and e</a:t>
                </a:r>
                <a:r>
                  <a:rPr kumimoji="0" lang="en-PK" altLang="en-PK" sz="2000" b="0" i="0" u="none" strike="noStrike" cap="none" normalizeH="0" baseline="-30000" dirty="0">
                    <a:ln>
                      <a:noFill/>
                    </a:ln>
                    <a:solidFill>
                      <a:srgbClr val="3A3A3A"/>
                    </a:solidFill>
                    <a:effectLst/>
                    <a:latin typeface="Arial" panose="020B0604020202020204" pitchFamily="34" charset="0"/>
                    <a:ea typeface="-apple-system"/>
                  </a:rPr>
                  <a:t>2</a:t>
                </a:r>
                <a:endParaRPr kumimoji="0" lang="en-PK" altLang="en-PK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just" fontAlgn="base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6A09E2-CDBD-B164-3B8D-8024051CC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643" y="1108953"/>
                <a:ext cx="11269459" cy="5535038"/>
              </a:xfrm>
              <a:blipFill>
                <a:blip r:embed="rId3"/>
                <a:stretch>
                  <a:fillRect l="-487" t="-11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4A96B17-A4F9-822A-7AAE-4DFBA9E0719D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5E8081-2867-9B6C-F000-705EAF0D62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48618" y="1461290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5E8081-2867-9B6C-F000-705EAF0D62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48618" y="1461290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2411" t="-106557" r="-133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2411" t="-210000" r="-1339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124" name="Picture 4">
            <a:extLst>
              <a:ext uri="{FF2B5EF4-FFF2-40B4-BE49-F238E27FC236}">
                <a16:creationId xmlns:a16="http://schemas.microsoft.com/office/drawing/2014/main" id="{5DC97826-5D67-8841-1CCF-C19ACBDF5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277" y="3145730"/>
            <a:ext cx="3134867" cy="305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C70771-6AFC-703D-4995-1EB7BA019BE4}"/>
              </a:ext>
            </a:extLst>
          </p:cNvPr>
          <p:cNvSpPr txBox="1"/>
          <p:nvPr/>
        </p:nvSpPr>
        <p:spPr>
          <a:xfrm>
            <a:off x="6719141" y="6225862"/>
            <a:ext cx="4811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The coordinate system for principal components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70494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E452-214E-122C-D3EC-4E021800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B8362-E6A0-8914-1DFA-CC3A49677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3" y="1108953"/>
            <a:ext cx="11269459" cy="5535038"/>
          </a:xfrm>
          <a:noFill/>
        </p:spPr>
        <p:txBody>
          <a:bodyPr>
            <a:noAutofit/>
          </a:bodyPr>
          <a:lstStyle/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Next, we drop perpendiculars from the given data points to the e1-axis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85185F-CFAC-2A19-C1EF-B3348FC67CCB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B3456E5-E8A8-7F0A-6FDB-1497BFCC4E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750019"/>
                  </p:ext>
                </p:extLst>
              </p:nvPr>
            </p:nvGraphicFramePr>
            <p:xfrm>
              <a:off x="2748618" y="1111100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l-G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sz="1800" b="0" i="1" baseline="-25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1800" b="0" i="1" baseline="-5000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=  8</a:t>
                          </a: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.5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B3456E5-E8A8-7F0A-6FDB-1497BFCC4E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750019"/>
                  </p:ext>
                </p:extLst>
              </p:nvPr>
            </p:nvGraphicFramePr>
            <p:xfrm>
              <a:off x="2748618" y="1111100"/>
              <a:ext cx="9443382" cy="1463040"/>
            </p:xfrm>
            <a:graphic>
              <a:graphicData uri="http://schemas.openxmlformats.org/drawingml/2006/table">
                <a:tbl>
                  <a:tblPr/>
                  <a:tblGrid>
                    <a:gridCol w="2767838">
                      <a:extLst>
                        <a:ext uri="{9D8B030D-6E8A-4147-A177-3AD203B41FA5}">
                          <a16:colId xmlns:a16="http://schemas.microsoft.com/office/drawing/2014/main" val="3710929569"/>
                        </a:ext>
                      </a:extLst>
                    </a:gridCol>
                    <a:gridCol w="1206436">
                      <a:extLst>
                        <a:ext uri="{9D8B030D-6E8A-4147-A177-3AD203B41FA5}">
                          <a16:colId xmlns:a16="http://schemas.microsoft.com/office/drawing/2014/main" val="4226575375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455322111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236270998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3188993667"/>
                        </a:ext>
                      </a:extLst>
                    </a:gridCol>
                    <a:gridCol w="1367277">
                      <a:extLst>
                        <a:ext uri="{9D8B030D-6E8A-4147-A177-3AD203B41FA5}">
                          <a16:colId xmlns:a16="http://schemas.microsoft.com/office/drawing/2014/main" val="164798099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Feature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1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Example 2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3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>
                              <a:effectLst/>
                            </a:rPr>
                            <a:t>Example 4</a:t>
                          </a:r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endParaRPr lang="en-US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4926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1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2411" t="-106557" r="-1339" b="-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044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X</a:t>
                          </a:r>
                          <a:r>
                            <a:rPr lang="en-US" b="1" baseline="-25000" dirty="0">
                              <a:effectLst/>
                            </a:rPr>
                            <a:t>2</a:t>
                          </a:r>
                          <a:endParaRPr lang="en-US" b="1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14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2411" t="-210000" r="-1339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1588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b="1" dirty="0">
                              <a:effectLst/>
                            </a:rPr>
                            <a:t>First Principal Components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US" sz="18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-4.30535</a:t>
                          </a: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3.7361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>
                              <a:effectLst/>
                            </a:rPr>
                            <a:t>5.6928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/>
                          <a:r>
                            <a:rPr lang="en-PK" dirty="0">
                              <a:effectLst/>
                            </a:rPr>
                            <a:t>-5.1238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PK" dirty="0">
                            <a:effectLst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AFA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4195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126" name="Picture 6">
            <a:extLst>
              <a:ext uri="{FF2B5EF4-FFF2-40B4-BE49-F238E27FC236}">
                <a16:creationId xmlns:a16="http://schemas.microsoft.com/office/drawing/2014/main" id="{642F1F1E-FA72-4CDE-1601-27F0D93E1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297" y="3056343"/>
            <a:ext cx="3452150" cy="3385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2404A-DC31-DB34-9DC4-27F3A47D690A}"/>
              </a:ext>
            </a:extLst>
          </p:cNvPr>
          <p:cNvSpPr txBox="1"/>
          <p:nvPr/>
        </p:nvSpPr>
        <p:spPr>
          <a:xfrm>
            <a:off x="2748618" y="6392302"/>
            <a:ext cx="6704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Projections of data points on the axis of the first principal component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5754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8FF6-9F81-F194-D9E6-557135D0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AA60-0C48-92AE-0F97-BF81ABD7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21" y="1108953"/>
            <a:ext cx="5001486" cy="5535038"/>
          </a:xfrm>
          <a:noFill/>
        </p:spPr>
        <p:txBody>
          <a:bodyPr>
            <a:noAutofit/>
          </a:bodyPr>
          <a:lstStyle/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first principal components are the e1-coordinates of the feet of perpendiculars, that is, the projections on the e1-axis. 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projections of the data points on the e1-axis may be taken as approximations of the given data points hence we may replace the given data set with these points.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Now, each of these approximations can be unambiguously specified by a single number, namely, the e1-coordinate of approximation.</a:t>
            </a:r>
          </a:p>
          <a:p>
            <a:pPr algn="just" fontAlgn="base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Thus the two-dimensional data set can be represented approximately by the following one-dimensional data set.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7B7D18-A56C-9B5A-72FF-D929F9D82B61}"/>
              </a:ext>
            </a:extLst>
          </p:cNvPr>
          <p:cNvSpPr txBox="1">
            <a:spLocks/>
          </p:cNvSpPr>
          <p:nvPr/>
        </p:nvSpPr>
        <p:spPr>
          <a:xfrm>
            <a:off x="1066800" y="416149"/>
            <a:ext cx="10058400" cy="692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ockwell Condensed" panose="02060603050405020104"/>
              </a:rPr>
              <a:t>Principal Component Analysis</a:t>
            </a:r>
            <a:endParaRPr kumimoji="0" lang="en-PK" sz="5400" b="0" i="0" u="none" strike="noStrike" kern="1200" cap="all" spc="0" normalizeH="0" baseline="0" noProof="0" dirty="0">
              <a:ln>
                <a:noFill/>
              </a:ln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effectLst/>
              <a:uLnTx/>
              <a:uFillTx/>
              <a:latin typeface="Rockwell Condensed" panose="02060603050405020104"/>
              <a:ea typeface="+mj-ea"/>
              <a:cs typeface="+mj-cs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3D7ED33-131F-12A5-0AE2-9D8925F31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46" y="1595847"/>
            <a:ext cx="6747870" cy="320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F9A2E3-2C09-6ACD-66AD-BC26AF18AA7D}"/>
              </a:ext>
            </a:extLst>
          </p:cNvPr>
          <p:cNvSpPr txBox="1"/>
          <p:nvPr/>
        </p:nvSpPr>
        <p:spPr>
          <a:xfrm>
            <a:off x="6149008" y="4961618"/>
            <a:ext cx="5279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A3A3A"/>
                </a:solidFill>
                <a:effectLst/>
                <a:latin typeface="-apple-system"/>
              </a:rPr>
              <a:t>Geometrical representation of one-dimensional approximation to the data set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5296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BB6F-3C8D-8DCB-1E44-C249AF93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PK" sz="7200" dirty="0"/>
          </a:p>
        </p:txBody>
      </p:sp>
    </p:spTree>
    <p:extLst>
      <p:ext uri="{BB962C8B-B14F-4D97-AF65-F5344CB8AC3E}">
        <p14:creationId xmlns:p14="http://schemas.microsoft.com/office/powerpoint/2010/main" val="1053163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13845</TotalTime>
  <Words>2537</Words>
  <Application>Microsoft Office PowerPoint</Application>
  <PresentationFormat>Widescreen</PresentationFormat>
  <Paragraphs>468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Cambria Math</vt:lpstr>
      <vt:lpstr>Rockwell</vt:lpstr>
      <vt:lpstr>Rockwell Condensed</vt:lpstr>
      <vt:lpstr>Times New Roman</vt:lpstr>
      <vt:lpstr>Wingdings</vt:lpstr>
      <vt:lpstr>Wood Type</vt:lpstr>
      <vt:lpstr>Office Theme</vt:lpstr>
      <vt:lpstr>Principal Component Analysis(PCA)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haroonaw</dc:creator>
  <cp:lastModifiedBy>DELL</cp:lastModifiedBy>
  <cp:revision>249</cp:revision>
  <dcterms:created xsi:type="dcterms:W3CDTF">2017-03-05T08:04:53Z</dcterms:created>
  <dcterms:modified xsi:type="dcterms:W3CDTF">2025-11-05T11:09:43Z</dcterms:modified>
</cp:coreProperties>
</file>